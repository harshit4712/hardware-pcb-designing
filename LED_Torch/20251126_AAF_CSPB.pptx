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66" r:id="rId5"/>
    <p:sldId id="258" r:id="rId6"/>
    <p:sldId id="260" r:id="rId7"/>
    <p:sldId id="263" r:id="rId8"/>
    <p:sldId id="269" r:id="rId9"/>
    <p:sldId id="268" r:id="rId10"/>
    <p:sldId id="270" r:id="rId11"/>
    <p:sldId id="262" r:id="rId12"/>
    <p:sldId id="267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72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44613"/>
            <a:ext cx="9144000" cy="1655762"/>
          </a:xfrm>
        </p:spPr>
        <p:txBody>
          <a:bodyPr/>
          <a:lstStyle/>
          <a:p>
            <a:r>
              <a:rPr lang="en-US" sz="3200" b="1" i="1"/>
              <a:t>Anti-Aliasing Filter Design </a:t>
            </a:r>
            <a:endParaRPr lang="en-US" sz="32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827" t="5129" r="6191" b="2851"/>
          <a:stretch>
            <a:fillRect/>
          </a:stretch>
        </p:blipFill>
        <p:spPr>
          <a:xfrm>
            <a:off x="5153025" y="3702050"/>
            <a:ext cx="6330315" cy="315595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26695"/>
            <a:ext cx="11576685" cy="6466205"/>
          </a:xfrm>
        </p:spPr>
        <p:txBody>
          <a:bodyPr>
            <a:normAutofit/>
          </a:bodyPr>
          <a:p>
            <a:r>
              <a:rPr lang="en-US" altLang="en-US" sz="1800" b="1"/>
              <a:t>What is Filter?</a:t>
            </a:r>
            <a:br>
              <a:rPr lang="en-US" altLang="en-US" sz="1800" b="1"/>
            </a:br>
            <a:r>
              <a:rPr lang="en-US" altLang="en-IN" sz="1800"/>
              <a:t>- Its a electronic block which allows only specific frequency to pass and reduce the other frequencies.</a:t>
            </a:r>
            <a:br>
              <a:rPr lang="en-US" altLang="en-IN" sz="1800"/>
            </a:br>
            <a:r>
              <a:rPr lang="en-US" altLang="en-IN" sz="1800"/>
              <a:t>- The LPF which allows only lower frequency to pass and higher frequency get removed; The HPF allows higher frequency to pass and lower frequency get blocked; The BPF allows only specific range of frequency to pass other get blocked.</a:t>
            </a:r>
            <a:endParaRPr lang="en-US" altLang="en-US" sz="1800"/>
          </a:p>
          <a:p>
            <a:r>
              <a:rPr lang="en-US" altLang="en-IN" sz="1800" b="1"/>
              <a:t>Frequency response and Transfer function</a:t>
            </a:r>
            <a:br>
              <a:rPr lang="en-IN" altLang="en-US" sz="1800" b="1"/>
            </a:br>
            <a:r>
              <a:rPr lang="en-US" altLang="en-IN" sz="1800"/>
              <a:t>- The behavior of filter accross the different frequencies is known as frequency response of the filter.</a:t>
            </a:r>
            <a:br>
              <a:rPr lang="en-US" altLang="en-IN" sz="1800"/>
            </a:br>
            <a:r>
              <a:rPr lang="en-US" altLang="en-IN" sz="1800"/>
              <a:t>- The frequency where the output drop by -3dB (starts to attenuation) reduction in signal strength. </a:t>
            </a:r>
            <a:br>
              <a:rPr lang="en-US" altLang="en-IN" sz="1800"/>
            </a:br>
            <a:r>
              <a:rPr lang="en-US" altLang="en-IN" sz="1800"/>
              <a:t>- TF describe the behavior of input and output of the filter. </a:t>
            </a:r>
            <a:endParaRPr lang="en-IN" altLang="en-US" sz="1800"/>
          </a:p>
          <a:p>
            <a:r>
              <a:rPr lang="en-US" altLang="en-IN" sz="1800" b="1"/>
              <a:t>Order of Filter</a:t>
            </a:r>
            <a:br>
              <a:rPr lang="en-US" altLang="en-IN" sz="1800"/>
            </a:br>
            <a:r>
              <a:rPr lang="en-US" altLang="en-IN" sz="1800"/>
              <a:t>- Number of energy storing element present into the design of filter determines the order of the filter.</a:t>
            </a:r>
            <a:br>
              <a:rPr lang="en-US" altLang="en-IN" sz="1800"/>
            </a:br>
            <a:r>
              <a:rPr lang="en-US" altLang="en-IN" sz="1800"/>
              <a:t>- </a:t>
            </a:r>
            <a:r>
              <a:rPr lang="en-US" altLang="en-US" sz="1800"/>
              <a:t>Order = number of poles.</a:t>
            </a:r>
            <a:br>
              <a:rPr lang="en-US" altLang="en-US" sz="1800"/>
            </a:br>
            <a:r>
              <a:rPr lang="en-US" altLang="en-US" sz="1800"/>
              <a:t>- Poles = mathematical points that create filter’s behavior.</a:t>
            </a:r>
            <a:endParaRPr lang="en-US" altLang="en-US" sz="1800"/>
          </a:p>
          <a:p>
            <a:r>
              <a:rPr lang="en-US" altLang="en-US" sz="1800" b="1"/>
              <a:t>Difference between Butterworth, Chebyshev, and Elliptic filters</a:t>
            </a:r>
            <a:br>
              <a:rPr lang="en-US" altLang="en-US" sz="1800" b="1"/>
            </a:br>
            <a:r>
              <a:rPr lang="en-US" altLang="en-US" sz="1800" b="1"/>
              <a:t>- </a:t>
            </a:r>
            <a:r>
              <a:rPr lang="en-US" altLang="en-US" sz="1800"/>
              <a:t>Butterworth: Smooth response, no ripple.</a:t>
            </a:r>
            <a:br>
              <a:rPr lang="en-US" altLang="en-US" sz="1800"/>
            </a:br>
            <a:r>
              <a:rPr lang="en-US" altLang="en-US" sz="1800"/>
              <a:t>- Chebyshev: Ripple in passband or stopband, sharper cutoff.</a:t>
            </a:r>
            <a:br>
              <a:rPr lang="en-US" altLang="en-US" sz="1800"/>
            </a:br>
            <a:r>
              <a:rPr lang="en-US" altLang="en-US" sz="1800"/>
              <a:t>- Elliptic: Ripple in both, sharpest cutoff.</a:t>
            </a:r>
            <a:br>
              <a:rPr lang="en-US" altLang="en-IN" sz="1800"/>
            </a:br>
            <a:endParaRPr lang="en-US" altLang="en-IN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26695"/>
            <a:ext cx="11576685" cy="6466205"/>
          </a:xfrm>
        </p:spPr>
        <p:txBody>
          <a:bodyPr>
            <a:normAutofit/>
          </a:bodyPr>
          <a:p>
            <a:r>
              <a:rPr lang="en-US" altLang="en-US" sz="1600" b="1"/>
              <a:t>What is Aliasing?</a:t>
            </a:r>
            <a:br>
              <a:rPr lang="en-US" altLang="en-US" sz="1600" b="1"/>
            </a:br>
            <a:r>
              <a:rPr lang="en-US" altLang="en-IN" sz="1600"/>
              <a:t>- Its a </a:t>
            </a:r>
            <a:r>
              <a:rPr lang="en-US" altLang="en-US" sz="1600"/>
              <a:t>distortion that occurs when the ADC samples a signal frequencies which is higher than half the sampling rate of the ADC.</a:t>
            </a:r>
            <a:br>
              <a:rPr lang="en-US" altLang="en-IN" sz="1600"/>
            </a:br>
            <a:r>
              <a:rPr lang="en-US" altLang="en-IN" sz="1600"/>
              <a:t>- T</a:t>
            </a:r>
            <a:r>
              <a:rPr lang="en-US" altLang="en-US" sz="1600"/>
              <a:t>hese higher frequencies flows into the lower frequency band and appear as false signals.</a:t>
            </a:r>
            <a:br>
              <a:rPr lang="en-US" altLang="en-US" sz="1600"/>
            </a:br>
            <a:endParaRPr lang="en-US" altLang="en-US" sz="1600"/>
          </a:p>
          <a:p>
            <a:r>
              <a:rPr lang="en-US" altLang="en-IN" sz="1600" b="1"/>
              <a:t>W</a:t>
            </a:r>
            <a:r>
              <a:rPr lang="en-US" altLang="en-US" sz="1600" b="1"/>
              <a:t>hy Does It Occur</a:t>
            </a:r>
            <a:r>
              <a:rPr lang="en-IN" altLang="en-US" sz="1600" b="1"/>
              <a:t>?</a:t>
            </a:r>
            <a:br>
              <a:rPr lang="en-IN" altLang="en-US" sz="1600" b="1"/>
            </a:br>
            <a:r>
              <a:rPr lang="en-US" altLang="en-IN" sz="1600"/>
              <a:t>-</a:t>
            </a:r>
            <a:r>
              <a:rPr lang="en-US" altLang="en-US" sz="1600"/>
              <a:t>Aliasing happens when you sample slower than twice the highest signal frequency (violating Nyquist rule).</a:t>
            </a:r>
            <a:br>
              <a:rPr lang="en-IN" altLang="en-US" sz="1600"/>
            </a:br>
            <a:r>
              <a:rPr lang="en-US" altLang="en-IN" sz="1600"/>
              <a:t>- </a:t>
            </a:r>
            <a:r>
              <a:rPr lang="en-US" altLang="en-US" sz="1600"/>
              <a:t>According to the Nyquist theorem, a signal must be band-limited to fs/2 before sampling.</a:t>
            </a:r>
            <a:br>
              <a:rPr lang="en-US" altLang="en-US" sz="1600"/>
            </a:br>
            <a:r>
              <a:rPr lang="en-US" altLang="en-US" sz="1600"/>
              <a:t>- Real-world signals are not perfectly band-limited → they contain noise, harmonics, and unwanted high-frequency components.</a:t>
            </a:r>
            <a:br>
              <a:rPr lang="en-US" altLang="en-US" sz="1600"/>
            </a:br>
            <a:r>
              <a:rPr lang="en-US" altLang="en-US" sz="1600"/>
              <a:t>-When these are sampled, they overlap with the real signal spectrum → causing irreversible distortion.</a:t>
            </a:r>
            <a:br>
              <a:rPr lang="en-US" altLang="en-IN" sz="1600"/>
            </a:br>
            <a:endParaRPr lang="en-IN" altLang="en-US" sz="1600"/>
          </a:p>
          <a:p>
            <a:r>
              <a:rPr lang="en-US" altLang="en-US" sz="1600"/>
              <a:t>Aliasing happens because sampling cannot distinguish high-frequency signals from lower ones—so it misinterprets them.</a:t>
            </a:r>
            <a:br>
              <a:rPr lang="en-US" altLang="en-IN" sz="1600"/>
            </a:br>
            <a:br>
              <a:rPr lang="en-US" altLang="en-IN" sz="1600"/>
            </a:br>
            <a:br>
              <a:rPr lang="en-US" altLang="en-IN" sz="1600"/>
            </a:br>
            <a:br>
              <a:rPr lang="en-US" altLang="en-IN" sz="1600"/>
            </a:br>
            <a:br>
              <a:rPr lang="en-US" altLang="en-IN" sz="1600"/>
            </a:br>
            <a:endParaRPr lang="en-IN" altLang="en-US" sz="1600"/>
          </a:p>
          <a:p>
            <a:pPr marL="0" indent="0">
              <a:buNone/>
            </a:pPr>
            <a:endParaRPr lang="en-IN" altLang="en-US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3116580"/>
            <a:ext cx="10975975" cy="3423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34010" y="226695"/>
                <a:ext cx="11576685" cy="6466205"/>
              </a:xfrm>
            </p:spPr>
            <p:txBody>
              <a:bodyPr>
                <a:normAutofit/>
              </a:bodyPr>
              <a:p>
                <a:r>
                  <a:rPr lang="en-US" altLang="en-US" sz="1600" b="1"/>
                  <a:t>Nyquist Sampling Theorem</a:t>
                </a:r>
                <a:br>
                  <a:rPr lang="en-US" altLang="en-US" sz="1600" b="1"/>
                </a:br>
                <a:r>
                  <a:rPr lang="en-US" altLang="en-IN" sz="1600"/>
                  <a:t>- </a:t>
                </a:r>
                <a:r>
                  <a:rPr lang="en-US" altLang="en-US" sz="1600"/>
                  <a:t>The sampling frequency must be at least twice the highest frequency present in the input signal.</a:t>
                </a:r>
                <a:br>
                  <a:rPr lang="en-US" altLang="en-US" sz="1600"/>
                </a:br>
                <a:r>
                  <a:rPr lang="en-US" altLang="en-US" sz="1600"/>
                  <a:t>- This ensures the ADC can correctly reconstruct the signal without overlap in frequency domain.</a:t>
                </a:r>
                <a:endParaRPr lang="en-US" altLang="en-US" sz="1600"/>
              </a:p>
              <a:p>
                <a:pPr marL="0" indent="0">
                  <a:buNone/>
                </a:pPr>
                <a:r>
                  <a:rPr lang="en-US" altLang="en-IN" sz="1600"/>
                  <a:t>                                                                                      </a:t>
                </a:r>
                <a:r>
                  <a:rPr lang="en-US" altLang="en-IN" sz="1600" b="1"/>
                  <a:t>    </a:t>
                </a:r>
                <a14:m>
                  <m:oMath xmlns:m="http://schemas.openxmlformats.org/officeDocument/2006/math"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𝑓𝑠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𝑆𝑎𝑚𝑝𝑙𝑖𝑛𝑔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en-IN" sz="1600" i="1">
                        <a:latin typeface="Cambria Math" panose="02040503050406030204" charset="0"/>
                        <a:cs typeface="Cambria Math" panose="02040503050406030204" charset="0"/>
                      </a:rPr>
                      <m:t>𝐹𝑟𝑒𝑞𝑢𝑒𝑛𝑐𝑦</m:t>
                    </m:r>
                  </m:oMath>
                </a14:m>
                <a:br>
                  <a:rPr lang="en-US" altLang="en-IN" sz="1600" i="1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</a:br>
                <a:endParaRPr lang="en-US" altLang="en-IN" sz="1600"/>
              </a:p>
              <a:p>
                <a:r>
                  <a:rPr lang="en-US" altLang="en-IN" sz="1600"/>
                  <a:t>In real world applications signals doesn’t have perfect bandwidth and aliasing is always possible.</a:t>
                </a:r>
                <a:endParaRPr lang="en-US" altLang="en-IN" sz="1600"/>
              </a:p>
              <a:p>
                <a:r>
                  <a:rPr lang="en-US" altLang="en-IN" sz="1600" b="1"/>
                  <a:t>Why anti-aliasing filter?</a:t>
                </a:r>
                <a:br>
                  <a:rPr lang="en-US" altLang="en-IN" sz="1600" b="1"/>
                </a:br>
                <a:r>
                  <a:rPr lang="en-US" altLang="en-IN" sz="1600"/>
                  <a:t>- </a:t>
                </a:r>
                <a:r>
                  <a:rPr lang="en-US" altLang="en-US" sz="1600"/>
                  <a:t>Anti-aliasing filter is an analog low-pass filter used before the ADC to remove high-frequency signals that can cause aliasing.</a:t>
                </a:r>
                <a:br>
                  <a:rPr lang="en-US" altLang="en-US" sz="1600"/>
                </a:br>
                <a:r>
                  <a:rPr lang="en-US" altLang="en-US" sz="1600"/>
                  <a:t>- It’s purpose it to remove/stop the frequencies which is above the Nyquist rate, preventing the low frequency signals to appears into the digital signals.</a:t>
                </a:r>
                <a:endParaRPr lang="en-US" altLang="en-US" sz="1600"/>
              </a:p>
              <a:p>
                <a:r>
                  <a:rPr lang="en-US" altLang="en-US" sz="1600" b="1"/>
                  <a:t>Why use LPF as Anti-Aliasing Filter?</a:t>
                </a:r>
                <a:br>
                  <a:rPr lang="en-US" altLang="en-US" sz="1600" b="1"/>
                </a:br>
                <a:r>
                  <a:rPr lang="en-US" altLang="en-US" sz="1600" b="1"/>
                  <a:t>-</a:t>
                </a:r>
                <a:r>
                  <a:rPr lang="en-US" altLang="en-US" sz="1600"/>
                  <a:t> Low-pass filters remove high frequencies that cause aliasing. High-pass filters cannot prevent aliasing.</a:t>
                </a:r>
                <a:br>
                  <a:rPr lang="en-US" altLang="en-US" sz="1600"/>
                </a:br>
                <a:endParaRPr lang="en-US" altLang="en-US" sz="1600"/>
              </a:p>
              <a:p>
                <a:pPr marL="0" indent="0">
                  <a:buNone/>
                </a:pPr>
                <a:br>
                  <a:rPr lang="en-US" altLang="en-IN" sz="1600"/>
                </a:br>
                <a:br>
                  <a:rPr lang="en-US" altLang="en-IN" sz="1600"/>
                </a:br>
                <a:endParaRPr lang="en-IN" altLang="en-US" sz="1600"/>
              </a:p>
              <a:p>
                <a:pPr marL="0" indent="0">
                  <a:buNone/>
                </a:pPr>
                <a:endParaRPr lang="en-IN" altLang="en-US" sz="1600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010" y="226695"/>
                <a:ext cx="11576685" cy="646620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1157668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1800" b="1"/>
              <a:t>Types of filters</a:t>
            </a:r>
            <a:endParaRPr lang="en-US" altLang="en-IN" sz="1800" b="1"/>
          </a:p>
          <a:p>
            <a:pPr>
              <a:lnSpc>
                <a:spcPct val="60000"/>
              </a:lnSpc>
            </a:pPr>
            <a:r>
              <a:rPr lang="en-US" altLang="en-IN" sz="1600"/>
              <a:t>RC low pass Filter</a:t>
            </a:r>
            <a:br>
              <a:rPr lang="en-US" altLang="en-IN" sz="1600"/>
            </a:br>
            <a:r>
              <a:rPr lang="en-US" altLang="en-IN" sz="1600"/>
              <a:t>- Uses only R and C for designing, which help to reduce frequency signals.</a:t>
            </a:r>
            <a:br>
              <a:rPr lang="en-US" altLang="en-IN" sz="1600"/>
            </a:br>
            <a:endParaRPr lang="en-US" altLang="en-IN" sz="1600"/>
          </a:p>
          <a:p>
            <a:pPr>
              <a:lnSpc>
                <a:spcPct val="60000"/>
              </a:lnSpc>
            </a:pPr>
            <a:r>
              <a:rPr lang="en-US" altLang="en-IN" sz="1600"/>
              <a:t>Active low pass Filter </a:t>
            </a:r>
            <a:br>
              <a:rPr lang="en-US" altLang="en-IN" sz="1600"/>
            </a:br>
            <a:r>
              <a:rPr lang="en-US" altLang="en-IN" sz="1600"/>
              <a:t>- Uses op-amp + RC filter to create different orders of filter.</a:t>
            </a:r>
            <a:br>
              <a:rPr lang="en-US" altLang="en-IN" sz="1600"/>
            </a:br>
            <a:endParaRPr lang="en-US" altLang="en-IN" sz="1600"/>
          </a:p>
          <a:p>
            <a:pPr>
              <a:lnSpc>
                <a:spcPct val="60000"/>
              </a:lnSpc>
            </a:pPr>
            <a:r>
              <a:rPr lang="en-US" altLang="en-US" sz="1600"/>
              <a:t>Sallen-Key Low-Pass Filter</a:t>
            </a:r>
            <a:br>
              <a:rPr lang="en-US" altLang="en-IN" sz="1600"/>
            </a:br>
            <a:r>
              <a:rPr lang="en-US" altLang="en-IN" sz="1600"/>
              <a:t>- It’s a popular 2nd order filter topology for active low pass filter.</a:t>
            </a:r>
            <a:br>
              <a:rPr lang="en-US" altLang="en-IN" sz="1600"/>
            </a:br>
            <a:endParaRPr lang="en-US" altLang="en-IN" sz="1600"/>
          </a:p>
          <a:p>
            <a:pPr>
              <a:lnSpc>
                <a:spcPct val="60000"/>
              </a:lnSpc>
            </a:pPr>
            <a:r>
              <a:rPr lang="en-US" altLang="en-IN" sz="1600"/>
              <a:t>Multiple pole Filter</a:t>
            </a:r>
            <a:br>
              <a:rPr lang="en-US" altLang="en-IN" sz="1600"/>
            </a:br>
            <a:r>
              <a:rPr lang="en-US" altLang="en-IN" sz="1600"/>
              <a:t>- It’s made by cascading 2nd order filters together to achieve higher order.</a:t>
            </a:r>
            <a:br>
              <a:rPr lang="en-US" altLang="en-IN" sz="1600"/>
            </a:br>
            <a:endParaRPr lang="en-US" altLang="en-IN" sz="1600"/>
          </a:p>
          <a:p>
            <a:pPr>
              <a:lnSpc>
                <a:spcPct val="60000"/>
              </a:lnSpc>
            </a:pPr>
            <a:r>
              <a:rPr lang="en-US" altLang="en-IN" sz="1600"/>
              <a:t>LC Filter</a:t>
            </a:r>
            <a:br>
              <a:rPr lang="en-US" altLang="en-IN" sz="1600"/>
            </a:br>
            <a:r>
              <a:rPr lang="en-US" altLang="en-IN" sz="1600"/>
              <a:t>- Low pass filter by using L and C components.</a:t>
            </a:r>
            <a:endParaRPr lang="en-US" altLang="en-IN" sz="1600"/>
          </a:p>
          <a:p>
            <a:pPr>
              <a:lnSpc>
                <a:spcPct val="60000"/>
              </a:lnSpc>
            </a:pPr>
            <a:endParaRPr lang="en-US" altLang="en-IN" sz="1600"/>
          </a:p>
          <a:p>
            <a:pPr>
              <a:lnSpc>
                <a:spcPct val="60000"/>
              </a:lnSpc>
            </a:pPr>
            <a:r>
              <a:rPr lang="en-US" altLang="en-IN" sz="1600"/>
              <a:t>Butterworth Filter</a:t>
            </a:r>
            <a:br>
              <a:rPr lang="en-US" altLang="en-IN" sz="1600"/>
            </a:br>
            <a:r>
              <a:rPr lang="en-US" altLang="en-IN" sz="1600"/>
              <a:t>- It’s a </a:t>
            </a:r>
            <a:r>
              <a:rPr lang="en-US" altLang="en-US" sz="1600"/>
              <a:t>maximally-flat magnitude filter. No ripples in the passband. Smooth response. (Commonly used for AAF)</a:t>
            </a:r>
            <a:endParaRPr lang="en-US" altLang="en-US" sz="1600"/>
          </a:p>
          <a:p>
            <a:pPr>
              <a:lnSpc>
                <a:spcPct val="60000"/>
              </a:lnSpc>
            </a:pPr>
            <a:endParaRPr lang="en-US" altLang="en-US" sz="1600"/>
          </a:p>
          <a:p>
            <a:pPr>
              <a:lnSpc>
                <a:spcPct val="60000"/>
              </a:lnSpc>
            </a:pPr>
            <a:r>
              <a:rPr lang="en-US" altLang="en-US" sz="1600"/>
              <a:t>Chebychev Filter</a:t>
            </a:r>
            <a:br>
              <a:rPr lang="en-US" altLang="en-US" sz="1600"/>
            </a:br>
            <a:r>
              <a:rPr lang="en-US" altLang="en-US" sz="1600"/>
              <a:t>- It’s a filter with ripples but very sharp cutoff slope.</a:t>
            </a:r>
            <a:endParaRPr lang="en-US" altLang="en-US" sz="1600"/>
          </a:p>
          <a:p>
            <a:pPr>
              <a:lnSpc>
                <a:spcPct val="60000"/>
              </a:lnSpc>
            </a:pPr>
            <a:endParaRPr lang="en-US" altLang="en-US" sz="1600"/>
          </a:p>
          <a:p>
            <a:pPr>
              <a:lnSpc>
                <a:spcPct val="60000"/>
              </a:lnSpc>
            </a:pPr>
            <a:r>
              <a:rPr lang="en-US" altLang="en-US" sz="1600"/>
              <a:t>Bessel Filter </a:t>
            </a:r>
            <a:br>
              <a:rPr lang="en-US" altLang="en-US" sz="1600"/>
            </a:br>
            <a:r>
              <a:rPr lang="en-US" altLang="en-US" sz="1600"/>
              <a:t>- It is designed for linear phase it preserve waveform.</a:t>
            </a:r>
            <a:endParaRPr lang="en-US" altLang="en-US" sz="1600"/>
          </a:p>
          <a:p>
            <a:endParaRPr lang="en-US" altLang="en-US" sz="1600"/>
          </a:p>
          <a:p>
            <a:endParaRPr lang="en-IN" altLang="en-US" sz="1600"/>
          </a:p>
          <a:p>
            <a:pPr marL="0" indent="0">
              <a:buNone/>
            </a:pPr>
            <a:endParaRPr lang="en-I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250" y="3505200"/>
            <a:ext cx="3568700" cy="30740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1202690"/>
            <a:ext cx="5222240" cy="230251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610235" y="1074420"/>
            <a:ext cx="4805680" cy="5504815"/>
            <a:chOff x="961" y="1692"/>
            <a:chExt cx="7920" cy="866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8" y="5920"/>
              <a:ext cx="5290" cy="4441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1" y="1692"/>
              <a:ext cx="7920" cy="349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576262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1800" b="1"/>
              <a:t>Low Pass Filter (LPF)</a:t>
            </a:r>
            <a:br>
              <a:rPr lang="en-US" altLang="en-IN" sz="1800" b="1"/>
            </a:br>
            <a:r>
              <a:rPr lang="en-US" altLang="en-IN" sz="1800"/>
              <a:t>- </a:t>
            </a:r>
            <a:r>
              <a:rPr lang="en-US" altLang="en-US" sz="1600"/>
              <a:t>Passes low-frequency signals and attenuates high-frequency signals.</a:t>
            </a:r>
            <a:endParaRPr lang="en-US" altLang="en-US" sz="1600"/>
          </a:p>
          <a:p>
            <a:r>
              <a:rPr lang="en-US" altLang="en-IN" sz="1600" b="1"/>
              <a:t>Passive LPF</a:t>
            </a:r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r>
              <a:rPr lang="en-US" altLang="en-IN" sz="1600" b="1"/>
              <a:t>Active LPF</a:t>
            </a:r>
            <a:br>
              <a:rPr lang="en-US" altLang="en-IN" sz="1600" b="1"/>
            </a:br>
            <a:endParaRPr lang="en-US" altLang="en-IN" sz="1600" b="1"/>
          </a:p>
        </p:txBody>
      </p:sp>
      <p:sp>
        <p:nvSpPr>
          <p:cNvPr id="6" name="Content Placeholder 3"/>
          <p:cNvSpPr>
            <a:spLocks noGrp="1"/>
          </p:cNvSpPr>
          <p:nvPr/>
        </p:nvSpPr>
        <p:spPr>
          <a:xfrm>
            <a:off x="6031230" y="206375"/>
            <a:ext cx="5887085" cy="6486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IN" sz="1800" b="1"/>
              <a:t>High Pass Filter (HPF)</a:t>
            </a:r>
            <a:br>
              <a:rPr lang="en-US" altLang="en-IN" sz="1800" b="1"/>
            </a:br>
            <a:r>
              <a:rPr lang="en-US" altLang="en-IN" sz="1800"/>
              <a:t>- </a:t>
            </a:r>
            <a:r>
              <a:rPr lang="en-US" altLang="en-US" sz="1600"/>
              <a:t>Passes high-frequency signals and attenuates low-frequency signals.</a:t>
            </a:r>
            <a:endParaRPr lang="en-US" altLang="en-US" sz="1600"/>
          </a:p>
          <a:p>
            <a:r>
              <a:rPr lang="en-US" altLang="en-IN" sz="1600" b="1"/>
              <a:t>Passive HPF</a:t>
            </a:r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r>
              <a:rPr lang="en-US" altLang="en-IN" sz="1600" b="1"/>
              <a:t>Active HPF</a:t>
            </a:r>
            <a:br>
              <a:rPr lang="en-US" altLang="en-IN" sz="1600" b="1"/>
            </a:br>
            <a:endParaRPr lang="en-US" altLang="en-IN" sz="1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9815" y="2662555"/>
            <a:ext cx="3130550" cy="2628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40" y="847725"/>
            <a:ext cx="3492500" cy="20764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35" y="1202690"/>
            <a:ext cx="5110480" cy="230314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576262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1800" b="1"/>
              <a:t>Band Pass Filter (BPF)</a:t>
            </a:r>
            <a:br>
              <a:rPr lang="en-US" altLang="en-IN" sz="1800" b="1"/>
            </a:br>
            <a:r>
              <a:rPr lang="en-US" altLang="en-IN" sz="1800"/>
              <a:t>- </a:t>
            </a:r>
            <a:r>
              <a:rPr lang="en-US" altLang="en-US" sz="1600"/>
              <a:t>Passes signals within a specific frequency range and attenuates signals outside that range.</a:t>
            </a:r>
            <a:endParaRPr lang="en-US" altLang="en-US" sz="1600"/>
          </a:p>
          <a:p>
            <a:r>
              <a:rPr lang="en-US" altLang="en-IN" sz="1600" b="1"/>
              <a:t>Passive BPF</a:t>
            </a:r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r>
              <a:rPr lang="en-US" altLang="en-IN" sz="1600" b="1"/>
              <a:t>Active LPF</a:t>
            </a:r>
            <a:br>
              <a:rPr lang="en-US" altLang="en-IN" sz="1600" b="1"/>
            </a:br>
            <a:endParaRPr lang="en-US" altLang="en-IN" sz="1600" b="1"/>
          </a:p>
        </p:txBody>
      </p:sp>
      <p:sp>
        <p:nvSpPr>
          <p:cNvPr id="6" name="Content Placeholder 3"/>
          <p:cNvSpPr>
            <a:spLocks noGrp="1"/>
          </p:cNvSpPr>
          <p:nvPr/>
        </p:nvSpPr>
        <p:spPr>
          <a:xfrm>
            <a:off x="6031230" y="206375"/>
            <a:ext cx="5887085" cy="6486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IN" sz="1800" b="1"/>
              <a:t>Band-Stop (Notch) Filter </a:t>
            </a:r>
            <a:br>
              <a:rPr lang="en-US" altLang="en-IN" sz="1800" b="1"/>
            </a:br>
            <a:r>
              <a:rPr lang="en-US" altLang="en-IN" sz="1800"/>
              <a:t>- </a:t>
            </a:r>
            <a:r>
              <a:rPr lang="en-US" altLang="en-US" sz="1600"/>
              <a:t>Attenuates signals within a specific frequency range and passes signals outside that range.</a:t>
            </a:r>
            <a:endParaRPr lang="en-US" altLang="en-US" sz="1600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  <a:p>
            <a:endParaRPr lang="en-US" altLang="en-IN" sz="1600" b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rcRect t="39353"/>
          <a:stretch>
            <a:fillRect/>
          </a:stretch>
        </p:blipFill>
        <p:spPr>
          <a:xfrm>
            <a:off x="2917190" y="3673475"/>
            <a:ext cx="3295650" cy="27381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4489" b="61153"/>
          <a:stretch>
            <a:fillRect/>
          </a:stretch>
        </p:blipFill>
        <p:spPr>
          <a:xfrm>
            <a:off x="91440" y="4245610"/>
            <a:ext cx="3056255" cy="1753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2245" y="2229485"/>
            <a:ext cx="5829300" cy="33997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45" y="2466975"/>
            <a:ext cx="3943350" cy="2667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1157668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1800" b="1">
                <a:cs typeface="+mn-lt"/>
              </a:rPr>
              <a:t>Filter Topology</a:t>
            </a:r>
            <a:endParaRPr lang="en-US" altLang="en-IN" sz="1800" b="1">
              <a:cs typeface="+mn-lt"/>
            </a:endParaRPr>
          </a:p>
          <a:p>
            <a:r>
              <a:rPr lang="en-US" altLang="en-IN" sz="1800" b="1">
                <a:cs typeface="+mn-lt"/>
              </a:rPr>
              <a:t>Passive Filter</a:t>
            </a:r>
            <a:br>
              <a:rPr lang="en-US" altLang="en-IN" sz="1800" b="1">
                <a:cs typeface="+mn-lt"/>
              </a:rPr>
            </a:br>
            <a:r>
              <a:rPr lang="en-US" altLang="en-IN" sz="1600">
                <a:cs typeface="+mn-lt"/>
              </a:rPr>
              <a:t>- </a:t>
            </a:r>
            <a:r>
              <a:rPr lang="en-US" altLang="en-US" sz="1600">
                <a:cs typeface="+mn-lt"/>
              </a:rPr>
              <a:t>Use only passive components (resistors, capacitors, and inductors). They are simple to implement but have limitations in terms of gain and impedance matching. </a:t>
            </a:r>
            <a:endParaRPr lang="en-US" altLang="en-US" sz="1600">
              <a:cs typeface="+mn-lt"/>
            </a:endParaRPr>
          </a:p>
          <a:p>
            <a:r>
              <a:rPr lang="en-US" altLang="en-US" sz="1800" b="1">
                <a:cs typeface="+mn-lt"/>
              </a:rPr>
              <a:t>Active Filter</a:t>
            </a:r>
            <a:br>
              <a:rPr lang="en-US" altLang="en-US" sz="1800" b="1">
                <a:cs typeface="+mn-lt"/>
              </a:rPr>
            </a:br>
            <a: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  <a:t>- </a:t>
            </a:r>
            <a:r>
              <a:rPr lang="en-US" altLang="en-US" sz="1800"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en-US" altLang="en-US" sz="1600">
                <a:cs typeface="+mn-lt"/>
              </a:rPr>
              <a:t>Use active components (op-amps) in combination with passive components. They offer greater flexibility and can provide gain, impedance matching, and isolation. Common topologies include:</a:t>
            </a:r>
            <a:endParaRPr lang="en-US" altLang="en-US" sz="1600">
              <a:cs typeface="+mn-lt"/>
            </a:endParaRPr>
          </a:p>
          <a:p>
            <a:pPr marL="342900" indent="-342900">
              <a:buAutoNum type="arabicPeriod"/>
            </a:pPr>
            <a:r>
              <a:rPr lang="en-US" altLang="en-US" sz="1600" b="1">
                <a:cs typeface="+mn-lt"/>
              </a:rPr>
              <a:t>Sallen-Key                                                                                                      2.   Multiple Feedback</a:t>
            </a:r>
            <a:endParaRPr lang="en-US" altLang="en-US" sz="1600" b="1"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0" indent="0">
              <a:buNone/>
            </a:pPr>
            <a:br>
              <a:rPr lang="en-US" altLang="en-IN" sz="1800">
                <a:latin typeface="Cambria Math" panose="02040503050406030204" charset="0"/>
                <a:cs typeface="Cambria Math" panose="02040503050406030204" charset="0"/>
              </a:rPr>
            </a:br>
            <a:endParaRPr lang="en-US" altLang="en-IN" sz="18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1157668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2000" b="1">
                <a:cs typeface="+mn-lt"/>
              </a:rPr>
              <a:t>Filter Design Consideration </a:t>
            </a:r>
            <a:endParaRPr lang="en-US" altLang="en-IN" sz="2000" b="1">
              <a:cs typeface="+mn-lt"/>
            </a:endParaRPr>
          </a:p>
          <a:p>
            <a:r>
              <a:rPr lang="en-US" altLang="en-IN" sz="1800" b="1">
                <a:cs typeface="+mn-lt"/>
              </a:rPr>
              <a:t>Filter Order</a:t>
            </a:r>
            <a:br>
              <a:rPr lang="en-US" altLang="en-IN" sz="1800" b="1">
                <a:cs typeface="+mn-lt"/>
              </a:rPr>
            </a:br>
            <a:r>
              <a:rPr lang="en-US" altLang="en-IN" sz="1600">
                <a:cs typeface="+mn-lt"/>
              </a:rPr>
              <a:t>- Determines the steepness of the filters roll-off</a:t>
            </a:r>
            <a:r>
              <a:rPr lang="en-US" altLang="en-US" sz="1600">
                <a:cs typeface="+mn-lt"/>
              </a:rPr>
              <a:t>. Higher-order filters have steeper roll-offs but are more complex to design and implement.</a:t>
            </a:r>
            <a:endParaRPr lang="en-US" altLang="en-US" sz="1600">
              <a:cs typeface="+mn-lt"/>
            </a:endParaRPr>
          </a:p>
          <a:p>
            <a:r>
              <a:rPr lang="en-US" altLang="en-US" sz="1800" b="1">
                <a:cs typeface="+mn-lt"/>
              </a:rPr>
              <a:t>Passband Ripple</a:t>
            </a:r>
            <a:br>
              <a:rPr lang="en-US" altLang="en-US" sz="1600" b="1">
                <a:cs typeface="+mn-lt"/>
              </a:rPr>
            </a:br>
            <a:r>
              <a:rPr lang="en-US" altLang="en-US" sz="1600">
                <a:cs typeface="+mn-lt"/>
              </a:rPr>
              <a:t>- The maximum amount of variation in the filter's gain within the passband. </a:t>
            </a:r>
            <a:endParaRPr lang="en-US" altLang="en-US" sz="1600">
              <a:cs typeface="+mn-lt"/>
            </a:endParaRPr>
          </a:p>
          <a:p>
            <a:r>
              <a:rPr lang="en-US" altLang="en-US" sz="1800" b="1">
                <a:cs typeface="+mn-lt"/>
              </a:rPr>
              <a:t>Stopband Attenuation </a:t>
            </a:r>
            <a:br>
              <a:rPr lang="en-US" altLang="en-US" sz="1800" b="1">
                <a:cs typeface="+mn-lt"/>
              </a:rPr>
            </a:br>
            <a:r>
              <a:rPr lang="en-US" altLang="en-US" sz="1600">
                <a:cs typeface="+mn-lt"/>
              </a:rPr>
              <a:t>-</a:t>
            </a:r>
            <a:r>
              <a:rPr lang="en-US" altLang="en-US" sz="1800">
                <a:cs typeface="+mn-lt"/>
              </a:rPr>
              <a:t> </a:t>
            </a:r>
            <a:r>
              <a:rPr lang="en-US" altLang="en-US" sz="1600">
                <a:cs typeface="+mn-lt"/>
              </a:rPr>
              <a:t> The minimum amount of attenuation provided by the filter in the stopband.</a:t>
            </a:r>
            <a:endParaRPr lang="en-US" altLang="en-US" sz="1600">
              <a:cs typeface="+mn-lt"/>
            </a:endParaRPr>
          </a:p>
          <a:p>
            <a:r>
              <a:rPr lang="en-US" altLang="en-US" sz="1800" b="1">
                <a:cs typeface="+mn-lt"/>
              </a:rPr>
              <a:t>Quality Factor 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A measure of a filter's selectivity. A high Q filter has a narrow bandwidth and a high peak gain.</a:t>
            </a:r>
            <a:endParaRPr lang="en-US" altLang="en-US" sz="1600">
              <a:cs typeface="+mn-lt"/>
            </a:endParaRPr>
          </a:p>
          <a:p>
            <a:r>
              <a:rPr lang="en-US" altLang="en-US" sz="1800" b="1">
                <a:cs typeface="+mn-lt"/>
              </a:rPr>
              <a:t>Realizability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The ability to physically implement a filter using practical components such as resistors, capacitors, and inductors.</a:t>
            </a:r>
            <a:endParaRPr lang="en-US" altLang="en-US" sz="1600">
              <a:cs typeface="+mn-lt"/>
            </a:endParaRPr>
          </a:p>
          <a:p>
            <a:endParaRPr lang="en-US" altLang="en-US" sz="1600"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400">
              <a:latin typeface="Cambria Math" panose="02040503050406030204" charset="0"/>
              <a:cs typeface="+mn-lt"/>
            </a:endParaRPr>
          </a:p>
          <a:p>
            <a:pPr marL="342900" indent="-342900">
              <a:buAutoNum type="arabicPeriod"/>
            </a:pPr>
            <a:endParaRPr lang="en-US" altLang="en-US" sz="1600" b="1">
              <a:latin typeface="Cambria Math" panose="02040503050406030204" charset="0"/>
              <a:cs typeface="+mn-lt"/>
            </a:endParaRPr>
          </a:p>
          <a:p>
            <a:pPr marL="0" indent="0">
              <a:buNone/>
            </a:pPr>
            <a:br>
              <a:rPr lang="en-US" altLang="en-IN" sz="1800">
                <a:latin typeface="Cambria Math" panose="02040503050406030204" charset="0"/>
                <a:cs typeface="Cambria Math" panose="02040503050406030204" charset="0"/>
              </a:rPr>
            </a:br>
            <a:endParaRPr lang="en-US" altLang="en-IN" sz="18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1157668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2000" b="1"/>
              <a:t>Higher Order Filter Comparison</a:t>
            </a:r>
            <a:endParaRPr lang="en-US" altLang="en-IN" sz="2000" b="1"/>
          </a:p>
          <a:p>
            <a:pPr marL="0" indent="0">
              <a:buNone/>
            </a:pP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endParaRPr lang="en-IN" altLang="en-US" sz="160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333375" y="571500"/>
          <a:ext cx="11577320" cy="589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75"/>
                <a:gridCol w="2103755"/>
                <a:gridCol w="2856230"/>
                <a:gridCol w="1929765"/>
                <a:gridCol w="1929130"/>
                <a:gridCol w="1929765"/>
              </a:tblGrid>
              <a:tr h="398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Order</a:t>
                      </a:r>
                      <a:endParaRPr lang="en-US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C</a:t>
                      </a:r>
                      <a:r>
                        <a:rPr lang="en-US" altLang="en-US" sz="1800"/>
                        <a:t>omponents</a:t>
                      </a:r>
                      <a:endParaRPr lang="en-US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Delay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Pros</a:t>
                      </a:r>
                      <a:endParaRPr lang="en-US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Cons</a:t>
                      </a:r>
                      <a:endParaRPr lang="en-US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When to use</a:t>
                      </a:r>
                      <a:endParaRPr lang="en-US" altLang="en-US" sz="1800"/>
                    </a:p>
                  </a:txBody>
                  <a:tcPr/>
                </a:tc>
              </a:tr>
              <a:tr h="9169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800"/>
                        <a:t>1</a:t>
                      </a: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V</a:t>
                      </a:r>
                      <a:r>
                        <a:rPr lang="en-US" altLang="en-US" sz="1800"/>
                        <a:t>ery simple: 1 R + 1 C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Minimal phase distortion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Very cheap, smallest area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P</a:t>
                      </a:r>
                      <a:r>
                        <a:rPr lang="en-US" altLang="en-US" sz="1800"/>
                        <a:t>oor stopband rejection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L</a:t>
                      </a:r>
                      <a:r>
                        <a:rPr lang="en-US" altLang="en-US" sz="1800"/>
                        <a:t>ow-precision systems</a:t>
                      </a:r>
                      <a:endParaRPr lang="en-US" altLang="en-US" sz="1800"/>
                    </a:p>
                  </a:txBody>
                  <a:tcPr anchor="ctr" anchorCtr="0"/>
                </a:tc>
              </a:tr>
              <a:tr h="9163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800"/>
                        <a:t>2</a:t>
                      </a: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Moderate: Sallen-Key or multiple feedback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Moderate phase shift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S</a:t>
                      </a:r>
                      <a:r>
                        <a:rPr lang="en-US" altLang="en-US" sz="1800"/>
                        <a:t>teeper roll-off with modest complexity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N</a:t>
                      </a:r>
                      <a:r>
                        <a:rPr lang="en-US" altLang="en-US" sz="1800"/>
                        <a:t>eeds op-amp with GBW margin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When you need clearer stopband than 1st order but limited parts</a:t>
                      </a:r>
                      <a:endParaRPr lang="en-US" altLang="en-US" sz="1800"/>
                    </a:p>
                  </a:txBody>
                  <a:tcPr anchor="ctr" anchorCtr="0"/>
                </a:tc>
              </a:tr>
              <a:tr h="9169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800"/>
                        <a:t>4</a:t>
                      </a: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Higher: two 2nd-order stages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Larger phase shift &amp; group delay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P</a:t>
                      </a:r>
                      <a:r>
                        <a:rPr lang="en-US" altLang="en-US" sz="1800"/>
                        <a:t>ractical for many ADC front-ends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More components, higher layout sensitivity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Good default for precision ADCs</a:t>
                      </a:r>
                      <a:endParaRPr lang="en-US" altLang="en-US" sz="1800"/>
                    </a:p>
                  </a:txBody>
                  <a:tcPr anchor="ctr" anchorCtr="0"/>
                </a:tc>
              </a:tr>
              <a:tr h="9169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800"/>
                        <a:t>5</a:t>
                      </a: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Higher: mix of 2nd + 3rd or cascaded stages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Significant phase/group delay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Strong stopband rejection with cascaded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More design effort, sensitive to tolerances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Use when tight anti-aliasing required</a:t>
                      </a:r>
                      <a:endParaRPr lang="en-US" altLang="en-US" sz="1800"/>
                    </a:p>
                  </a:txBody>
                  <a:tcPr anchor="ctr" anchorCtr="0"/>
                </a:tc>
              </a:tr>
              <a:tr h="9163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800"/>
                        <a:t>6+</a:t>
                      </a:r>
                      <a:endParaRPr 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Complex: many stages or higher-order topologies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Large phase distortion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Very steep roll-off, strong rejection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Large area, high cost</a:t>
                      </a:r>
                      <a:endParaRPr lang="en-US" altLang="en-US" sz="1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/>
                        <a:t>Very high-performance systems</a:t>
                      </a:r>
                      <a:endParaRPr lang="en-US" altLang="en-US" sz="18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4872355" cy="6486525"/>
          </a:xfrm>
        </p:spPr>
        <p:txBody>
          <a:bodyPr>
            <a:normAutofit/>
          </a:bodyPr>
          <a:p>
            <a:r>
              <a:rPr lang="en-US" altLang="en-IN" sz="1800" b="1"/>
              <a:t>Filter Designing Requirements</a:t>
            </a:r>
            <a:br>
              <a:rPr lang="en-US" altLang="en-IN" sz="1600" b="1"/>
            </a:br>
            <a:r>
              <a:rPr lang="en-US" altLang="en-IN" sz="1600" b="1"/>
              <a:t>- </a:t>
            </a:r>
            <a:r>
              <a:rPr lang="en-US" altLang="en-IN" sz="1600"/>
              <a:t>ADC resolution: 16-bit</a:t>
            </a:r>
            <a:br>
              <a:rPr lang="en-US" altLang="en-IN" sz="1600"/>
            </a:br>
            <a:r>
              <a:rPr lang="en-US" altLang="en-IN" sz="1600"/>
              <a:t>- Sampling: 1.0 Vp-p, Single-ended</a:t>
            </a:r>
            <a:br>
              <a:rPr lang="en-US" altLang="en-IN" sz="1600"/>
            </a:br>
            <a:r>
              <a:rPr lang="en-US" altLang="en-IN" sz="1600"/>
              <a:t>- Sampling rate: 1Msps</a:t>
            </a:r>
            <a:br>
              <a:rPr lang="en-US" altLang="en-IN" sz="1600"/>
            </a:br>
            <a:r>
              <a:rPr lang="en-US" altLang="en-IN" sz="1600"/>
              <a:t>- Required Filter: 5-pole </a:t>
            </a:r>
            <a:br>
              <a:rPr lang="en-US" altLang="en-IN" sz="1600"/>
            </a:br>
            <a:r>
              <a:rPr lang="en-US" altLang="en-IN" sz="1600"/>
              <a:t>- SNR: ~98dB</a:t>
            </a:r>
            <a:br>
              <a:rPr lang="en-US" altLang="en-IN" sz="1600"/>
            </a:br>
            <a:endParaRPr lang="en-US" altLang="en-IN" sz="1600"/>
          </a:p>
          <a:p>
            <a:r>
              <a:rPr lang="en-US" altLang="en-US" sz="1800" b="1">
                <a:cs typeface="+mn-lt"/>
              </a:rPr>
              <a:t>AAF Design Workflow</a:t>
            </a:r>
            <a:br>
              <a:rPr lang="en-US" altLang="en-US" sz="1600" b="1">
                <a:cs typeface="+mn-lt"/>
              </a:rPr>
            </a:br>
            <a:r>
              <a:rPr lang="en-US" altLang="en-US" sz="1600">
                <a:cs typeface="+mn-lt"/>
              </a:rPr>
              <a:t>- Define ADC sampling rate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Determine the Nyquist frequency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Choose cutoff &lt; 0.8 x Nyquist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Select topology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Simulate frequency response</a:t>
            </a:r>
            <a:br>
              <a:rPr lang="en-US" altLang="en-US" sz="1600">
                <a:cs typeface="+mn-lt"/>
              </a:rPr>
            </a:br>
            <a:br>
              <a:rPr lang="en-US" altLang="en-US" sz="1600">
                <a:cs typeface="+mn-lt"/>
              </a:rPr>
            </a:br>
            <a:endParaRPr lang="en-US" altLang="en-US" sz="1600">
              <a:cs typeface="+mn-lt"/>
            </a:endParaRPr>
          </a:p>
          <a:p>
            <a:r>
              <a:rPr lang="en-US" altLang="en-US" sz="1800" b="1">
                <a:cs typeface="+mn-lt"/>
              </a:rPr>
              <a:t>Why 5-Pole Filter</a:t>
            </a:r>
            <a:br>
              <a:rPr lang="en-US" altLang="en-US" sz="1600" b="1">
                <a:cs typeface="+mn-lt"/>
              </a:rPr>
            </a:br>
            <a:r>
              <a:rPr lang="en-US" altLang="en-US" sz="1600">
                <a:cs typeface="+mn-lt"/>
              </a:rPr>
              <a:t>- 1st/2nd order: Insufficient stopband attenuation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- 5th order: much steeper roll-off</a:t>
            </a:r>
            <a:br>
              <a:rPr lang="en-US" altLang="en-US" sz="1600">
                <a:cs typeface="+mn-lt"/>
              </a:rPr>
            </a:br>
            <a:r>
              <a:rPr lang="en-US" altLang="en-US" sz="1600">
                <a:cs typeface="+mn-lt"/>
              </a:rPr>
              <a:t>- Provides required attenuation near 0.5-1MHz region </a:t>
            </a:r>
            <a:endParaRPr lang="en-US" altLang="en-US" sz="1600"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11576685" cy="64865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IN" sz="1800" b="1"/>
              <a:t>Filter Designing Using Microchip Filter designer (Active Filter)</a:t>
            </a:r>
            <a:br>
              <a:rPr lang="en-US" altLang="en-IN" sz="18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endParaRPr lang="en-IN" altLang="en-US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15" y="506730"/>
            <a:ext cx="4027805" cy="279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20" y="623570"/>
            <a:ext cx="3665855" cy="2677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475" y="589280"/>
            <a:ext cx="3790950" cy="1492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15" y="3266440"/>
            <a:ext cx="3829050" cy="30753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3300730"/>
            <a:ext cx="3444875" cy="3168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110" y="3300730"/>
            <a:ext cx="3918585" cy="2635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4010" y="206375"/>
            <a:ext cx="11576685" cy="6486525"/>
          </a:xfrm>
        </p:spPr>
        <p:txBody>
          <a:bodyPr>
            <a:normAutofit/>
          </a:bodyPr>
          <a:p>
            <a:r>
              <a:rPr lang="en-US" altLang="en-IN" sz="1600" b="1"/>
              <a:t>Filter Designing Using Microchip Filter designer (Active) - Depending the Inputs provided we can get the circuit for the AAF</a:t>
            </a: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br>
              <a:rPr lang="en-US" altLang="en-IN" sz="1600">
                <a:latin typeface="Cambria Math" panose="02040503050406030204" charset="0"/>
                <a:cs typeface="Cambria Math" panose="02040503050406030204" charset="0"/>
              </a:rPr>
            </a:br>
            <a:endParaRPr lang="en-US" altLang="en-IN" sz="1600">
              <a:latin typeface="Cambria Math" panose="02040503050406030204" charset="0"/>
              <a:cs typeface="Cambria Math" panose="02040503050406030204" charset="0"/>
            </a:endParaRPr>
          </a:p>
          <a:p>
            <a:pPr>
              <a:lnSpc>
                <a:spcPct val="30000"/>
              </a:lnSpc>
            </a:pPr>
            <a:r>
              <a:rPr lang="en-US" altLang="en-US" sz="1600">
                <a:cs typeface="+mn-lt"/>
              </a:rPr>
              <a:t>ADC input is single-ended, unipolar, 1.0 Vp-p.</a:t>
            </a:r>
            <a:endParaRPr lang="en-US" altLang="en-US" sz="1600">
              <a:cs typeface="+mn-lt"/>
            </a:endParaRPr>
          </a:p>
          <a:p>
            <a:pPr>
              <a:lnSpc>
                <a:spcPct val="30000"/>
              </a:lnSpc>
            </a:pPr>
            <a:r>
              <a:rPr lang="en-US" altLang="en-US" sz="1600">
                <a:cs typeface="+mn-lt"/>
              </a:rPr>
              <a:t>Use a 5-pole Active Anti-Aliasing Filter with 0.5 MHz nominal cutoff.</a:t>
            </a:r>
            <a:endParaRPr lang="en-US" altLang="en-US" sz="1600">
              <a:cs typeface="+mn-lt"/>
            </a:endParaRPr>
          </a:p>
          <a:p>
            <a:pPr>
              <a:lnSpc>
                <a:spcPct val="30000"/>
              </a:lnSpc>
            </a:pPr>
            <a:r>
              <a:rPr lang="en-US" altLang="en-US" sz="1600">
                <a:cs typeface="+mn-lt"/>
              </a:rPr>
              <a:t>Cutoff frequency must be programmable.</a:t>
            </a:r>
            <a:endParaRPr lang="en-US" altLang="en-US" sz="1600">
              <a:cs typeface="+mn-lt"/>
            </a:endParaRPr>
          </a:p>
        </p:txBody>
      </p:sp>
      <p:pic>
        <p:nvPicPr>
          <p:cNvPr id="9" name="Picture 8" descr="CircuitSchemat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480060"/>
            <a:ext cx="11325225" cy="29876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1*464"/>
  <p:tag name="TABLE_ENDDRAG_RECT" val="26*37*911*4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6908</Words>
  <Application>WPS Presentation</Application>
  <PresentationFormat>Widescreen</PresentationFormat>
  <Paragraphs>187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Cambria Math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WPS_1689660263</cp:lastModifiedBy>
  <cp:revision>13</cp:revision>
  <dcterms:created xsi:type="dcterms:W3CDTF">2025-07-23T00:59:00Z</dcterms:created>
  <dcterms:modified xsi:type="dcterms:W3CDTF">2025-11-26T11:51:14Z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88ABEC8ECDDF4D11B401C60E0FE2F37F_13</vt:lpwstr>
  </property>
  <property fmtid="{D5CDD505-2E9C-101B-9397-08002B2CF9AE}" pid="3" name="KSOProductBuildVer">
    <vt:lpwstr>1033-12.2.0.23155</vt:lpwstr>
  </property>
</Properties>
</file>